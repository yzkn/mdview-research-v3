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でスマートフォン・タブレットに対応するときの画面の案です。範囲は利用者が決めた「閲覧中心＋軽い編集」。画面の写真は、端末のブラウザーで動く HTML の試作（poc/v3-mobile/mock）を、端末の大きさで撮ったものです。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要点は 3 つです。1 つ目、読む面を主にして、操作は親指の届く下に集めます。2 つ目、編集は押したブロック（段落・箇条・表など）の原文を、下から出る板で直します。読んでいる所から離れずに直せます。3 つ目、日本語の変換中は入力欄に値を書き戻さない作りにします。タブレットの横置きでは目次を左に出したまま、原文とプレビューを並べて直せます。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モバイルでの使い方は、読む・探すが中心で、直すのはときどき、誤字や作業の印、1 行の追記程度と見込みました。そこから目標を数で決めました。押せる所は Apple の 44 pt・Google の 48 dp 以上。読んでいる所から 2 回押すまでに入力できること。直したら 5 秒間「元に戻す」を出すこと。主な操作は画面の下の 3 分の 1 に置くこと。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読む画面がいつも起点です。目次・検索・表示・その他は、読む画面の上に重ねて出し、閉じると読む画面に戻ります。直すときは「直す」を押して直す面に入り、ブロックを押すと、そのブロックの原文の板が出ます。完了で読む画面に戻り、元に戻すの知らせを出します。読む画面でブロックを長押ししても、直す面を経ずにブロックの板を開けます。構造を大きく直すときは、その他から全文を直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読む画面です。上の帯は、戻る・文書名・その他だけで、下へ読むと隠れて読む面が広がります。本文は 17 px、行の高さ 1.8 倍で、配色は OS の設定に従います。下の帯に 5 つの操作を並べ、まん中の「直す」だけを強調色にしました。画面の端からのスワイプは、OS の戻る操作と取り合うので使いません。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下から出る板で、いまの見出しに色を付けます。押すとその見出しへ飛んで閉じます。検索は、入力欄を上に置き、前へ・次へ・置換を下の帯に置きます。入力はキーボードと近い上、送る操作は親指の届く下、という分け方です。暗い配色でも同じ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直すときの 3 つの画面です。左は直す面で、ブロックの境目が点線で見え、上に「直したいブロックを押す」の札が出ます。まん中がブロックを直す板です。押したブロックが上へ送られ、原文が下の板に入ります。板の名前でブロックの種類が分かり、直すそばから上のブロックが描き直されます。右は全文を直す画面で、その他から入ります。2 つの段落をつなぐなど、ブロックをまたぐ直しに使います。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キーボードの上に出す道具の帯です。指でキャレットを 1 字だけ動かすのは難しいので、矢印のボタンを先頭近くに置きました。Markdown の記号は、見出し・箇条・作業・太字・コード・リンク・字下げを用意します。帯は横に流せますが、完了だけは流れる部分の外に置き、いつも見えるようにします。帯のボタンは押し始めで既定の動きを止め、入力欄から焦点を外しません。外すとキーボードが閉じてしまうた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編集の入り方を 4 つ比べました。勧めるのは B のブロック単位です。読んでいた所のまま直せ、入力欄が小さく軽く、直すそばから描き直されます。A の全文の原文は、どこを直しているか見失いやすいので、B の補いにします。C の描いたまま直す案は、日本語の変換との相性が悪く、元の書き方も保てません。D の PC 版の編集器は、Android で日本語の変換中の字が来ないため採りません。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タブレットの横置き、幅 900 px 以上の画面です。目次を左に出したままにし、下の帯は出さずに操作を上の帯へ移します。並べて直すを押すと、原文とプレビューが並び、原文を直すとプレビューが追います。外付けキーボードでは PC 版と同じ打鍵を使えます。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画面を支える作りの決まりです。1 つ目が日本語の入力です。変換中に入力欄へ値を書き戻すと、変換中の字が消えます。いまの Dioxus の試作は、打つたびに書き戻しているので、ここを直す必要があります。2 つ目がキーボードです。iOS は CSS でキーボードの高さを取れないので、visualViewport で受けて板と帯を上に置きます。Android 15 では WebView に余白を渡す作りを確かめます。3 つ目が描き直しです。全文の HTML を作り直すと 300 KB で約 1 秒かかるので、直したブロックだけを作り直して入れ替えます。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まだ確かめていないことと次の段取りです。写真の試作では、実機のキーボードや日本語の入力は見られません。端末で試作を開き、変換・キーボードの出し入れ・長押し・片手の操作・タブレットの切り替えを確かめます。結果で案を直し、Dioxus の試作へ取り込み、CI の APK で同じことを確かめます。最後に v3 の要件で、モバイルで直せる範囲と上限の大きさを決めます。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lang="ja-JP" altLang="en-US">
                <a:solidFill>
                  <a:srgbClr val="D5ECEC"/>
                </a:solidFill>
                <a:latin typeface="Yu Gothic UI"/>
                <a:ea typeface="Yu Gothic UI"/>
                <a:cs typeface="Yu Gothic UI"/>
              </a:rPr>
              <a:t>mdview v3 ・ 調査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モバイル 画面設計案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lang="ja-JP" altLang="en-US">
                <a:solidFill>
                  <a:srgbClr val="C9D4DE"/>
                </a:solidFill>
                <a:latin typeface="Yu Gothic UI"/>
                <a:ea typeface="Yu Gothic UI"/>
                <a:cs typeface="Yu Gothic UI"/>
              </a:rPr>
              <a:t>閲覧の操作性を下げず、最低限の編集をストレスなく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lang="ja-JP" altLang="en-US">
                <a:solidFill>
                  <a:srgbClr val="9FB0C0"/>
                </a:solidFill>
                <a:latin typeface="Yu Gothic UI"/>
                <a:ea typeface="Yu Gothic UI"/>
                <a:cs typeface="Yu Gothic UI"/>
              </a:rPr>
              <a:t>2026-10-28</a:t>
            </a:r>
          </a:p>
          <a:p>
            <a:pPr algn="l">
              <a:spcAft>
                <a:spcPts val="200"/>
              </a:spcAft>
            </a:pPr>
            <a:r>
              <a:rPr sz="1300" b="0" lang="ja-JP" altLang="en-US">
                <a:solidFill>
                  <a:srgbClr val="9FB0C0"/>
                </a:solidFill>
                <a:latin typeface="Yu Gothic UI"/>
                <a:ea typeface="Yu Gothic UI"/>
                <a:cs typeface="Yu Gothic UI"/>
              </a:rPr>
              <a:t>試作: poc/v3-mobile/mock（端末のブラウザーで動く HTML）</a:t>
            </a:r>
          </a:p>
        </p:txBody>
      </p:sp>
      <p:sp>
        <p:nvSpPr>
          <p:cNvPr id="6" name="端末の縁 read"/>
          <p:cNvSpPr/>
          <p:nvPr/>
        </p:nvSpPr>
        <p:spPr>
          <a:xfrm>
            <a:off x="8147304" y="603504"/>
            <a:ext cx="2699776" cy="5650992"/>
          </a:xfrm>
          <a:prstGeom prst="roundRect">
            <a:avLst>
              <a:gd name="adj" fmla="val 6000"/>
            </a:avLst>
          </a:prstGeom>
          <a:solidFill>
            <a:srgbClr val="4A5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pic>
        <p:nvPicPr>
          <p:cNvPr id="7" name="画面 read" descr="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685800"/>
            <a:ext cx="2535184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64240" cy="685800"/>
          </a:xfrm>
        </p:spPr>
        <p:txBody>
          <a:bodyPr wrap="square" lIns="0" rIns="0" anchor="ctr"/>
          <a:lstStyle/>
          <a:p>
            <a:pPr algn="l"/>
            <a:r>
              <a:rPr sz="3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読む面を主に、直すのはブロック単位で</a:t>
            </a:r>
          </a:p>
        </p:txBody>
      </p:sp>
      <p:sp>
        <p:nvSpPr>
          <p:cNvPr id="3" name="要点 1"/>
          <p:cNvSpPr/>
          <p:nvPr/>
        </p:nvSpPr>
        <p:spPr>
          <a:xfrm>
            <a:off x="548640" y="1417320"/>
            <a:ext cx="3474720" cy="3063240"/>
          </a:xfrm>
          <a:prstGeom prst="roundRect">
            <a:avLst>
              <a:gd name="adj" fmla="val 5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4" name="番号 1"/>
          <p:cNvSpPr/>
          <p:nvPr/>
        </p:nvSpPr>
        <p:spPr>
          <a:xfrm>
            <a:off x="868680" y="1737360"/>
            <a:ext cx="566928" cy="56692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読む面が主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上は文書名だけの細い帯（下へ読むと隠れる）。下の帯に 5 つの操作: 目次・検索・直す・表示・その他</a:t>
            </a:r>
          </a:p>
        </p:txBody>
      </p:sp>
      <p:sp>
        <p:nvSpPr>
          <p:cNvPr id="7" name="要点 2"/>
          <p:cNvSpPr/>
          <p:nvPr/>
        </p:nvSpPr>
        <p:spPr>
          <a:xfrm>
            <a:off x="4297679" y="1417320"/>
            <a:ext cx="3474720" cy="3063240"/>
          </a:xfrm>
          <a:prstGeom prst="roundRect">
            <a:avLst>
              <a:gd name="adj" fmla="val 5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8" name="番号 2"/>
          <p:cNvSpPr/>
          <p:nvPr/>
        </p:nvSpPr>
        <p:spPr>
          <a:xfrm>
            <a:off x="4617719" y="1737360"/>
            <a:ext cx="566928" cy="56692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19" y="251460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ブロック単位で直す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19" y="3063240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押したブロックの原文が下から出る板に入る。直すそばから描き直される。キーボードの上に道具の帯。大きく直すときだけ全文</a:t>
            </a:r>
          </a:p>
        </p:txBody>
      </p:sp>
      <p:sp>
        <p:nvSpPr>
          <p:cNvPr id="11" name="要点 3"/>
          <p:cNvSpPr/>
          <p:nvPr/>
        </p:nvSpPr>
        <p:spPr>
          <a:xfrm>
            <a:off x="8046719" y="1417320"/>
            <a:ext cx="3474720" cy="3063240"/>
          </a:xfrm>
          <a:prstGeom prst="roundRect">
            <a:avLst>
              <a:gd name="adj" fmla="val 5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2" name="番号 3"/>
          <p:cNvSpPr/>
          <p:nvPr/>
        </p:nvSpPr>
        <p:spPr>
          <a:xfrm>
            <a:off x="8366759" y="1737360"/>
            <a:ext cx="566928" cy="56692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51460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日本語の入力を壊さない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3063240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変換中は入力欄へ値を書き戻さない。道具の帯を押してもキーボードを閉じない。端末の IME を使う</a:t>
            </a:r>
          </a:p>
        </p:txBody>
      </p:sp>
      <p:sp>
        <p:nvSpPr>
          <p:cNvPr id="15" name="タブレット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lang="ja-JP" altLang="en-US">
                <a:solidFill>
                  <a:srgbClr val="0F7F82"/>
                </a:solidFill>
                <a:latin typeface="Yu Gothic UI"/>
                <a:ea typeface="Yu Gothic UI"/>
                <a:cs typeface="Yu Gothic UI"/>
              </a:rPr>
              <a:t>タブレットの横置き  </a:t>
            </a:r>
            <a:r>
              <a:rPr sz="15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目次を左に出したまま。直すときは原文とプレビューを並べる。外付けキーボードでは PC 版と同じ打鍵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64240" cy="685800"/>
          </a:xfrm>
        </p:spPr>
        <p:txBody>
          <a:bodyPr wrap="square" lIns="0" rIns="0" anchor="ctr"/>
          <a:lstStyle/>
          <a:p>
            <a:pPr algn="l"/>
            <a:r>
              <a:rPr sz="3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「ストレスなく」の決め方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lang="ja-JP" altLang="en-US">
                <a:solidFill>
                  <a:srgbClr val="0F7F82"/>
                </a:solidFill>
                <a:latin typeface="Yu Gothic UI"/>
                <a:ea typeface="Yu Gothic UI"/>
                <a:cs typeface="Yu Gothic UI"/>
              </a:rPr>
              <a:t>想定する使い方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594360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017520"/>
                <a:gridCol w="15544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場面</a:t>
                      </a:r>
                    </a:p>
                  </a:txBody>
                  <a:tcPr>
                    <a:solidFill>
                      <a:srgbClr val="0F7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例</a:t>
                      </a:r>
                    </a:p>
                  </a:txBody>
                  <a:tcPr>
                    <a:solidFill>
                      <a:srgbClr val="0F7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頻度</a:t>
                      </a:r>
                    </a:p>
                  </a:txBody>
                  <a:tcPr>
                    <a:solidFill>
                      <a:srgbClr val="0F7F8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1E2A3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読む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会議の前に読む・移動中に見返す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いちばん多い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1E2A3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探す</a:t>
                      </a:r>
                    </a:p>
                  </a:txBody>
                  <a:tcPr anchor="ctr"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見出しへ飛ぶ・言葉で探す</a:t>
                      </a:r>
                    </a:p>
                  </a:txBody>
                  <a:tcPr anchor="ctr"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多い</a:t>
                      </a:r>
                    </a:p>
                  </a:txBody>
                  <a:tcPr anchor="ctr">
                    <a:solidFill>
                      <a:srgbClr val="EE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1E2A3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ちょっと直す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誤字・1 行の追記・作業の印・表の値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ときどき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1E2A3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大きく直す</a:t>
                      </a:r>
                    </a:p>
                  </a:txBody>
                  <a:tcPr anchor="ctr"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節の入れ替え・長い書き足し</a:t>
                      </a:r>
                    </a:p>
                  </a:txBody>
                  <a:tcPr anchor="ctr"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まれ（PC 版）</a:t>
                      </a:r>
                    </a:p>
                  </a:txBody>
                  <a:tcPr anchor="ctr">
                    <a:solidFill>
                      <a:srgbClr val="EEF5F5"/>
                    </a:solidFill>
                  </a:tcPr>
                </a:tc>
              </a:tr>
            </a:tbl>
          </a:graphicData>
        </a:graphic>
      </p:graphicFrame>
      <p:sp>
        <p:nvSpPr>
          <p:cNvPr id="5" name="目標 1"/>
          <p:cNvSpPr/>
          <p:nvPr/>
        </p:nvSpPr>
        <p:spPr>
          <a:xfrm>
            <a:off x="6812280" y="1371600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6002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lang="ja-JP" altLang="en-US">
                <a:solidFill>
                  <a:srgbClr val="0F7F82"/>
                </a:solidFill>
                <a:latin typeface="Yu Gothic UI"/>
                <a:ea typeface="Yu Gothic UI"/>
                <a:cs typeface="Yu Gothic UI"/>
              </a:rPr>
              <a:t>44 pt / 48 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228600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押せる大きさの下限（Apple / Google）</a:t>
            </a:r>
          </a:p>
        </p:txBody>
      </p:sp>
      <p:sp>
        <p:nvSpPr>
          <p:cNvPr id="8" name="目標 2"/>
          <p:cNvSpPr/>
          <p:nvPr/>
        </p:nvSpPr>
        <p:spPr>
          <a:xfrm>
            <a:off x="9281160" y="1371600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16002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lang="ja-JP" altLang="en-US">
                <a:solidFill>
                  <a:srgbClr val="0F7F82"/>
                </a:solidFill>
                <a:latin typeface="Yu Gothic UI"/>
                <a:ea typeface="Yu Gothic UI"/>
                <a:cs typeface="Yu Gothic UI"/>
              </a:rPr>
              <a:t>2 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28600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読んでいる所から、直し始めるまでに押す回数</a:t>
            </a:r>
          </a:p>
        </p:txBody>
      </p:sp>
      <p:sp>
        <p:nvSpPr>
          <p:cNvPr id="11" name="目標 3"/>
          <p:cNvSpPr/>
          <p:nvPr/>
        </p:nvSpPr>
        <p:spPr>
          <a:xfrm>
            <a:off x="6812280" y="3337560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35661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lang="ja-JP" altLang="en-US">
                <a:solidFill>
                  <a:srgbClr val="0F7F82"/>
                </a:solidFill>
                <a:latin typeface="Yu Gothic UI"/>
                <a:ea typeface="Yu Gothic UI"/>
                <a:cs typeface="Yu Gothic UI"/>
              </a:rPr>
              <a:t>5 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25196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直したあと「元に戻す」を出す時間（自動で保存）</a:t>
            </a:r>
          </a:p>
        </p:txBody>
      </p:sp>
      <p:sp>
        <p:nvSpPr>
          <p:cNvPr id="14" name="目標 4"/>
          <p:cNvSpPr/>
          <p:nvPr/>
        </p:nvSpPr>
        <p:spPr>
          <a:xfrm>
            <a:off x="9281160" y="3337560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35661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lang="ja-JP" altLang="en-US">
                <a:solidFill>
                  <a:srgbClr val="0F7F82"/>
                </a:solidFill>
                <a:latin typeface="Yu Gothic UI"/>
                <a:ea typeface="Yu Gothic UI"/>
                <a:cs typeface="Yu Gothic UI"/>
              </a:rPr>
              <a:t>下 1/3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425196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主な操作を置く所（親指の届く範囲）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ja-JP" altLang="en-US">
                <a:solidFill>
                  <a:srgbClr val="0F7F82"/>
                </a:solidFill>
                <a:latin typeface="Yu Gothic UI"/>
                <a:ea typeface="Yu Gothic UI"/>
                <a:cs typeface="Yu Gothic UI"/>
              </a:rPr>
              <a:t>ほかの目標  </a:t>
            </a:r>
            <a:r>
              <a:rPr sz="14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日本語の変換を壊さない ・ 直したらすぐ見える（切り替えない） ・ 失わない・戻せる ・ 読む面を狭めない（上の帯は隠れる、下の帯は 56 px）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64240" cy="685800"/>
          </a:xfrm>
        </p:spPr>
        <p:txBody>
          <a:bodyPr wrap="square" lIns="0" rIns="0" anchor="ctr"/>
          <a:lstStyle/>
          <a:p>
            <a:pPr algn="l"/>
            <a:r>
              <a:rPr sz="3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画面の流れ</a:t>
            </a:r>
          </a:p>
        </p:txBody>
      </p:sp>
      <p:sp>
        <p:nvSpPr>
          <p:cNvPr id="3" name="読む"/>
          <p:cNvSpPr/>
          <p:nvPr/>
        </p:nvSpPr>
        <p:spPr>
          <a:xfrm>
            <a:off x="4480560" y="2834640"/>
            <a:ext cx="2377440" cy="1005840"/>
          </a:xfrm>
          <a:prstGeom prst="roundRect">
            <a:avLst>
              <a:gd name="adj" fmla="val 18000"/>
            </a:avLst>
          </a:prstGeom>
          <a:solidFill>
            <a:srgbClr val="0F7F82"/>
          </a:solidFill>
          <a:ln w="19050">
            <a:solidFill>
              <a:srgbClr val="0F7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6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読む</a:t>
            </a:r>
          </a:p>
          <a:p>
            <a:pPr algn="ctr"/>
            <a:r>
              <a:rPr sz="1100" b="0" lang="ja-JP" altLang="en-US">
                <a:solidFill>
                  <a:srgbClr val="D8E6E6"/>
                </a:solidFill>
                <a:latin typeface="Yu Gothic UI"/>
                <a:ea typeface="Yu Gothic UI"/>
                <a:cs typeface="Yu Gothic UI"/>
              </a:rPr>
              <a:t>起点・いつもここへ戻る</a:t>
            </a:r>
          </a:p>
        </p:txBody>
      </p:sp>
      <p:sp>
        <p:nvSpPr>
          <p:cNvPr id="4" name="目次"/>
          <p:cNvSpPr/>
          <p:nvPr/>
        </p:nvSpPr>
        <p:spPr>
          <a:xfrm>
            <a:off x="640080" y="1463040"/>
            <a:ext cx="219456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F7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6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目次</a:t>
            </a:r>
          </a:p>
          <a:p>
            <a:pPr algn="ctr"/>
            <a:r>
              <a:rPr sz="11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下から出る板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2834639" y="1897380"/>
            <a:ext cx="1645921" cy="144018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検索"/>
          <p:cNvSpPr/>
          <p:nvPr/>
        </p:nvSpPr>
        <p:spPr>
          <a:xfrm>
            <a:off x="640080" y="2697480"/>
            <a:ext cx="219456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F7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6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検索</a:t>
            </a:r>
          </a:p>
          <a:p>
            <a:pPr algn="ctr"/>
            <a:r>
              <a:rPr sz="11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前後・置換は下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2834639" y="3131820"/>
            <a:ext cx="1645921" cy="20574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表示"/>
          <p:cNvSpPr/>
          <p:nvPr/>
        </p:nvSpPr>
        <p:spPr>
          <a:xfrm>
            <a:off x="640080" y="3931920"/>
            <a:ext cx="219456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F7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6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表示</a:t>
            </a:r>
          </a:p>
          <a:p>
            <a:pPr algn="ctr"/>
            <a:r>
              <a:rPr sz="11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字の大きさ・配色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834639" y="3337560"/>
            <a:ext cx="1645921" cy="1028699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その他"/>
          <p:cNvSpPr/>
          <p:nvPr/>
        </p:nvSpPr>
        <p:spPr>
          <a:xfrm>
            <a:off x="640080" y="5166360"/>
            <a:ext cx="219456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F7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6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その他</a:t>
            </a:r>
          </a:p>
          <a:p>
            <a:pPr algn="ctr"/>
            <a:r>
              <a:rPr sz="11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出力・設定・全文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834639" y="3337560"/>
            <a:ext cx="1645921" cy="226314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直す面"/>
          <p:cNvSpPr/>
          <p:nvPr/>
        </p:nvSpPr>
        <p:spPr>
          <a:xfrm>
            <a:off x="8229600" y="1463040"/>
            <a:ext cx="237744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F7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6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直す面</a:t>
            </a:r>
          </a:p>
          <a:p>
            <a:pPr algn="ctr"/>
            <a:r>
              <a:rPr sz="11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ブロックの境目が見える</a:t>
            </a:r>
          </a:p>
        </p:txBody>
      </p:sp>
      <p:sp>
        <p:nvSpPr>
          <p:cNvPr id="13" name="ブロックを直す"/>
          <p:cNvSpPr/>
          <p:nvPr/>
        </p:nvSpPr>
        <p:spPr>
          <a:xfrm>
            <a:off x="8229600" y="2880360"/>
            <a:ext cx="237744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F7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6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ブロックを直す</a:t>
            </a:r>
          </a:p>
          <a:p>
            <a:pPr algn="ctr"/>
            <a:r>
              <a:rPr sz="11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原文の板＋道具の帯</a:t>
            </a:r>
          </a:p>
        </p:txBody>
      </p:sp>
      <p:sp>
        <p:nvSpPr>
          <p:cNvPr id="14" name="全文を直す"/>
          <p:cNvSpPr/>
          <p:nvPr/>
        </p:nvSpPr>
        <p:spPr>
          <a:xfrm>
            <a:off x="8229600" y="4343400"/>
            <a:ext cx="2377440" cy="868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F7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6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全文を直す</a:t>
            </a:r>
          </a:p>
          <a:p>
            <a:pPr algn="ctr"/>
            <a:r>
              <a:rPr sz="11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構造を大きく直す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858000" y="1901952"/>
            <a:ext cx="1371600" cy="1115568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03720" y="2240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直す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18320" y="2331720"/>
            <a:ext cx="0" cy="54864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509760" y="24231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押す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3337560"/>
            <a:ext cx="1371600" cy="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49440" y="34290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長押し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834640" y="4773168"/>
            <a:ext cx="5394960" cy="82296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20640" y="5440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全文を直す</a:t>
            </a:r>
          </a:p>
        </p:txBody>
      </p:sp>
      <p:sp>
        <p:nvSpPr>
          <p:cNvPr id="23" name="完了"/>
          <p:cNvSpPr/>
          <p:nvPr/>
        </p:nvSpPr>
        <p:spPr>
          <a:xfrm>
            <a:off x="10835640" y="288036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35640" y="28803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完了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607040" y="3337560"/>
            <a:ext cx="228600" cy="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0" y="54864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完了で読む画面へ戻り、5 秒「元に戻す」を出す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64240" cy="685800"/>
          </a:xfrm>
        </p:spPr>
        <p:txBody>
          <a:bodyPr wrap="square" lIns="0" rIns="0" anchor="ctr"/>
          <a:lstStyle/>
          <a:p>
            <a:pPr algn="l"/>
            <a:r>
              <a:rPr sz="3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読む画面</a:t>
            </a:r>
          </a:p>
        </p:txBody>
      </p:sp>
      <p:sp>
        <p:nvSpPr>
          <p:cNvPr id="3" name="端末の縁 read"/>
          <p:cNvSpPr/>
          <p:nvPr/>
        </p:nvSpPr>
        <p:spPr>
          <a:xfrm>
            <a:off x="1197863" y="1152144"/>
            <a:ext cx="2594144" cy="5422392"/>
          </a:xfrm>
          <a:prstGeom prst="roundRect">
            <a:avLst>
              <a:gd name="adj" fmla="val 6000"/>
            </a:avLst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pic>
        <p:nvPicPr>
          <p:cNvPr id="4" name="画面 read" descr="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2429552" cy="5257800"/>
          </a:xfrm>
          <a:prstGeom prst="rect">
            <a:avLst/>
          </a:prstGeom>
        </p:spPr>
      </p:pic>
      <p:sp>
        <p:nvSpPr>
          <p:cNvPr id="5" name="番号 1"/>
          <p:cNvSpPr/>
          <p:nvPr/>
        </p:nvSpPr>
        <p:spPr>
          <a:xfrm>
            <a:off x="3874304" y="1200150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6" name="番号 2"/>
          <p:cNvSpPr/>
          <p:nvPr/>
        </p:nvSpPr>
        <p:spPr>
          <a:xfrm>
            <a:off x="3874304" y="3250692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7" name="番号 3"/>
          <p:cNvSpPr/>
          <p:nvPr/>
        </p:nvSpPr>
        <p:spPr>
          <a:xfrm>
            <a:off x="3874304" y="6116193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8" name="番号 1"/>
          <p:cNvSpPr/>
          <p:nvPr/>
        </p:nvSpPr>
        <p:spPr>
          <a:xfrm>
            <a:off x="5120640" y="1463040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79" y="1444752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上の帯</a:t>
            </a:r>
          </a:p>
          <a:p>
            <a:pPr algn="l">
              <a:spcAft>
                <a:spcPts val="300"/>
              </a:spcAft>
            </a:pPr>
            <a:r>
              <a:rPr sz="14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戻る・文書名・その他だけ。下へ読むと隠れ、上へ戻すと出る（読む面を広く）</a:t>
            </a:r>
          </a:p>
        </p:txBody>
      </p:sp>
      <p:sp>
        <p:nvSpPr>
          <p:cNvPr id="10" name="番号 2"/>
          <p:cNvSpPr/>
          <p:nvPr/>
        </p:nvSpPr>
        <p:spPr>
          <a:xfrm>
            <a:off x="5120640" y="2623566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605278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本文</a:t>
            </a:r>
          </a:p>
          <a:p>
            <a:pPr algn="l">
              <a:spcAft>
                <a:spcPts val="300"/>
              </a:spcAft>
            </a:pPr>
            <a:r>
              <a:rPr sz="14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17 px・行の高さ 1.8 倍。配色は OS の設定（明るい・暗い）に従う。表とコードは横に流せる</a:t>
            </a:r>
          </a:p>
        </p:txBody>
      </p:sp>
      <p:sp>
        <p:nvSpPr>
          <p:cNvPr id="12" name="番号 3"/>
          <p:cNvSpPr/>
          <p:nvPr/>
        </p:nvSpPr>
        <p:spPr>
          <a:xfrm>
            <a:off x="5120640" y="3784092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3765804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下の帯（56 px）</a:t>
            </a:r>
          </a:p>
          <a:p>
            <a:pPr algn="l">
              <a:spcAft>
                <a:spcPts val="300"/>
              </a:spcAft>
            </a:pPr>
            <a:r>
              <a:rPr sz="14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目次・検索・直す・表示・その他。押せる所は 48 px 以上。「直す」だけ強調色</a:t>
            </a:r>
          </a:p>
        </p:txBody>
      </p:sp>
      <p:sp>
        <p:nvSpPr>
          <p:cNvPr id="14" name="使わない操作"/>
          <p:cNvSpPr/>
          <p:nvPr/>
        </p:nvSpPr>
        <p:spPr>
          <a:xfrm>
            <a:off x="5120640" y="5120640"/>
            <a:ext cx="6492240" cy="1051560"/>
          </a:xfrm>
          <a:prstGeom prst="roundRect">
            <a:avLst>
              <a:gd name="adj" fmla="val 10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5120640"/>
            <a:ext cx="61264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ja-JP" altLang="en-US">
                <a:solidFill>
                  <a:srgbClr val="D98E1F"/>
                </a:solidFill>
                <a:latin typeface="Yu Gothic UI"/>
                <a:ea typeface="Yu Gothic UI"/>
                <a:cs typeface="Yu Gothic UI"/>
              </a:rPr>
              <a:t>使わない操作  </a:t>
            </a:r>
            <a:r>
              <a:rPr sz="14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画面の端からのスワイプ（Android・iOS の「戻る」と取り合う）。目次はボタンと下の板で出す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64240" cy="685800"/>
          </a:xfrm>
        </p:spPr>
        <p:txBody>
          <a:bodyPr wrap="square" lIns="0" rIns="0" anchor="ctr"/>
          <a:lstStyle/>
          <a:p>
            <a:pPr algn="l"/>
            <a:r>
              <a:rPr sz="3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目次と検索</a:t>
            </a:r>
          </a:p>
        </p:txBody>
      </p:sp>
      <p:sp>
        <p:nvSpPr>
          <p:cNvPr id="3" name="端末の縁 toc"/>
          <p:cNvSpPr/>
          <p:nvPr/>
        </p:nvSpPr>
        <p:spPr>
          <a:xfrm>
            <a:off x="603504" y="1152144"/>
            <a:ext cx="2319499" cy="4828031"/>
          </a:xfrm>
          <a:prstGeom prst="roundRect">
            <a:avLst>
              <a:gd name="adj" fmla="val 6000"/>
            </a:avLst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pic>
        <p:nvPicPr>
          <p:cNvPr id="4" name="画面 toc" descr="t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2154907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" y="6062471"/>
            <a:ext cx="23194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目次</a:t>
            </a:r>
          </a:p>
        </p:txBody>
      </p:sp>
      <p:sp>
        <p:nvSpPr>
          <p:cNvPr id="6" name="端末の縁 search"/>
          <p:cNvSpPr/>
          <p:nvPr/>
        </p:nvSpPr>
        <p:spPr>
          <a:xfrm>
            <a:off x="3300984" y="1152144"/>
            <a:ext cx="2319499" cy="4828031"/>
          </a:xfrm>
          <a:prstGeom prst="roundRect">
            <a:avLst>
              <a:gd name="adj" fmla="val 6000"/>
            </a:avLst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pic>
        <p:nvPicPr>
          <p:cNvPr id="7" name="画面 search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34440"/>
            <a:ext cx="2154907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00984" y="6062471"/>
            <a:ext cx="23194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検索</a:t>
            </a:r>
          </a:p>
        </p:txBody>
      </p:sp>
      <p:sp>
        <p:nvSpPr>
          <p:cNvPr id="9" name="端末の縁 dark"/>
          <p:cNvSpPr/>
          <p:nvPr/>
        </p:nvSpPr>
        <p:spPr>
          <a:xfrm>
            <a:off x="5998464" y="1152144"/>
            <a:ext cx="2319499" cy="4828031"/>
          </a:xfrm>
          <a:prstGeom prst="roundRect">
            <a:avLst>
              <a:gd name="adj" fmla="val 6000"/>
            </a:avLst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pic>
        <p:nvPicPr>
          <p:cNvPr id="10" name="画面 dark" descr="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234440"/>
            <a:ext cx="2154907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98464" y="6062471"/>
            <a:ext cx="23194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暗い配色</a:t>
            </a:r>
          </a:p>
        </p:txBody>
      </p:sp>
      <p:sp>
        <p:nvSpPr>
          <p:cNvPr id="12" name="番号 1"/>
          <p:cNvSpPr/>
          <p:nvPr/>
        </p:nvSpPr>
        <p:spPr>
          <a:xfrm>
            <a:off x="8823960" y="1417320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399032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目次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下から出る板。いまの見出しに色。押すと飛んで閉じる</a:t>
            </a:r>
          </a:p>
        </p:txBody>
      </p:sp>
      <p:sp>
        <p:nvSpPr>
          <p:cNvPr id="14" name="番号 2"/>
          <p:cNvSpPr/>
          <p:nvPr/>
        </p:nvSpPr>
        <p:spPr>
          <a:xfrm>
            <a:off x="8823960" y="2603373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585085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検索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入力は上、前へ・次へ・置換は下の帯</a:t>
            </a:r>
          </a:p>
        </p:txBody>
      </p:sp>
      <p:sp>
        <p:nvSpPr>
          <p:cNvPr id="16" name="番号 3"/>
          <p:cNvSpPr/>
          <p:nvPr/>
        </p:nvSpPr>
        <p:spPr>
          <a:xfrm>
            <a:off x="8823960" y="3789426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771138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配色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OS の設定に従う。形は同じ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64240" cy="685800"/>
          </a:xfrm>
        </p:spPr>
        <p:txBody>
          <a:bodyPr wrap="square" lIns="0" rIns="0" anchor="ctr"/>
          <a:lstStyle/>
          <a:p>
            <a:pPr algn="l"/>
            <a:r>
              <a:rPr sz="3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直す: ブロック単位で、読んでいる所のまま</a:t>
            </a:r>
          </a:p>
        </p:txBody>
      </p:sp>
      <p:sp>
        <p:nvSpPr>
          <p:cNvPr id="3" name="端末の縁 edit"/>
          <p:cNvSpPr/>
          <p:nvPr/>
        </p:nvSpPr>
        <p:spPr>
          <a:xfrm>
            <a:off x="603504" y="1152144"/>
            <a:ext cx="2319499" cy="4828031"/>
          </a:xfrm>
          <a:prstGeom prst="roundRect">
            <a:avLst>
              <a:gd name="adj" fmla="val 6000"/>
            </a:avLst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pic>
        <p:nvPicPr>
          <p:cNvPr id="4" name="画面 edit" descr="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2154907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" y="6062471"/>
            <a:ext cx="23194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① 直す面: 境目が見える</a:t>
            </a:r>
          </a:p>
        </p:txBody>
      </p:sp>
      <p:sp>
        <p:nvSpPr>
          <p:cNvPr id="6" name="端末の縁 block"/>
          <p:cNvSpPr/>
          <p:nvPr/>
        </p:nvSpPr>
        <p:spPr>
          <a:xfrm>
            <a:off x="3300984" y="1152144"/>
            <a:ext cx="2319499" cy="4828031"/>
          </a:xfrm>
          <a:prstGeom prst="roundRect">
            <a:avLst>
              <a:gd name="adj" fmla="val 6000"/>
            </a:avLst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pic>
        <p:nvPicPr>
          <p:cNvPr id="7" name="画面 block" descr="b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34440"/>
            <a:ext cx="2154907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00984" y="6062471"/>
            <a:ext cx="23194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② ブロックの原文を直す</a:t>
            </a:r>
          </a:p>
        </p:txBody>
      </p:sp>
      <p:sp>
        <p:nvSpPr>
          <p:cNvPr id="9" name="端末の縁 full"/>
          <p:cNvSpPr/>
          <p:nvPr/>
        </p:nvSpPr>
        <p:spPr>
          <a:xfrm>
            <a:off x="5998464" y="1152144"/>
            <a:ext cx="2319499" cy="4828031"/>
          </a:xfrm>
          <a:prstGeom prst="roundRect">
            <a:avLst>
              <a:gd name="adj" fmla="val 6000"/>
            </a:avLst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pic>
        <p:nvPicPr>
          <p:cNvPr id="10" name="画面 full" descr="f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234440"/>
            <a:ext cx="2154907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98464" y="6062471"/>
            <a:ext cx="23194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③ 全文を直す（補い）</a:t>
            </a:r>
          </a:p>
        </p:txBody>
      </p:sp>
      <p:sp>
        <p:nvSpPr>
          <p:cNvPr id="12" name="番号 1"/>
          <p:cNvSpPr/>
          <p:nvPr/>
        </p:nvSpPr>
        <p:spPr>
          <a:xfrm>
            <a:off x="8823960" y="1417320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399032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直す面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「直す」を押すと境目と札が出る</a:t>
            </a:r>
          </a:p>
        </p:txBody>
      </p:sp>
      <p:sp>
        <p:nvSpPr>
          <p:cNvPr id="14" name="番号 2"/>
          <p:cNvSpPr/>
          <p:nvPr/>
        </p:nvSpPr>
        <p:spPr>
          <a:xfrm>
            <a:off x="8823960" y="2603373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585085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ブロック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原文が板に入り、直すそばから上が描き直される</a:t>
            </a:r>
          </a:p>
        </p:txBody>
      </p:sp>
      <p:sp>
        <p:nvSpPr>
          <p:cNvPr id="16" name="番号 3"/>
          <p:cNvSpPr/>
          <p:nvPr/>
        </p:nvSpPr>
        <p:spPr>
          <a:xfrm>
            <a:off x="8823960" y="3789426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771138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全文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ブロックをまたぐ直しだけ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64240" cy="685800"/>
          </a:xfrm>
        </p:spPr>
        <p:txBody>
          <a:bodyPr wrap="square" lIns="0" rIns="0" anchor="ctr"/>
          <a:lstStyle/>
          <a:p>
            <a:pPr algn="l"/>
            <a:r>
              <a:rPr sz="3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キーボードの上の道具の帯</a:t>
            </a:r>
          </a:p>
        </p:txBody>
      </p:sp>
      <p:sp>
        <p:nvSpPr>
          <p:cNvPr id="3" name="帯の縁"/>
          <p:cNvSpPr/>
          <p:nvPr/>
        </p:nvSpPr>
        <p:spPr>
          <a:xfrm>
            <a:off x="2538831" y="1243584"/>
            <a:ext cx="7114031" cy="1189188"/>
          </a:xfrm>
          <a:prstGeom prst="roundRect">
            <a:avLst>
              <a:gd name="adj" fmla="val 12000"/>
            </a:avLst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pic>
        <p:nvPicPr>
          <p:cNvPr id="4" name="道具の帯" descr="keys-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7" y="1325880"/>
            <a:ext cx="6949440" cy="1024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21127" y="2487636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帯は横に流せる（試作の写真。「見出し」の先にも続く）</a:t>
            </a:r>
          </a:p>
        </p:txBody>
      </p:sp>
      <p:sp>
        <p:nvSpPr>
          <p:cNvPr id="6" name="帯の組 1"/>
          <p:cNvSpPr/>
          <p:nvPr/>
        </p:nvSpPr>
        <p:spPr>
          <a:xfrm>
            <a:off x="548640" y="27889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取り消し・←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キャレットを 1 字ずつ動かす（指で狙うのは難しい）。先頭に置く</a:t>
            </a:r>
          </a:p>
        </p:txBody>
      </p:sp>
      <p:sp>
        <p:nvSpPr>
          <p:cNvPr id="9" name="帯の組 2"/>
          <p:cNvSpPr/>
          <p:nvPr/>
        </p:nvSpPr>
        <p:spPr>
          <a:xfrm>
            <a:off x="3337560" y="27889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9260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見出し・箇条・作業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38328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行の頭に「# 」「- 」「- [ ] 」を足す</a:t>
            </a:r>
          </a:p>
        </p:txBody>
      </p:sp>
      <p:sp>
        <p:nvSpPr>
          <p:cNvPr id="12" name="帯の組 3"/>
          <p:cNvSpPr/>
          <p:nvPr/>
        </p:nvSpPr>
        <p:spPr>
          <a:xfrm>
            <a:off x="6126479" y="27889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9260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太字・コード・リンク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338328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選んだ字を「**」「`」「[ ]( )」で囲む</a:t>
            </a:r>
          </a:p>
        </p:txBody>
      </p:sp>
      <p:sp>
        <p:nvSpPr>
          <p:cNvPr id="15" name="帯の組 4"/>
          <p:cNvSpPr/>
          <p:nvPr/>
        </p:nvSpPr>
        <p:spPr>
          <a:xfrm>
            <a:off x="8915399" y="27889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79" y="29260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字下げ ⇤ 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79" y="338328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箇条の段を上げ下げする</a:t>
            </a:r>
          </a:p>
        </p:txBody>
      </p:sp>
      <p:sp>
        <p:nvSpPr>
          <p:cNvPr id="18" name="番号 1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90872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「完了」はいつも右端に見える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帯は横に流せるが、完了は流れる部分の外に置く（試作で、完了が画面の外に出たのを直した）</a:t>
            </a:r>
          </a:p>
        </p:txBody>
      </p:sp>
      <p:sp>
        <p:nvSpPr>
          <p:cNvPr id="20" name="番号 2"/>
          <p:cNvSpPr/>
          <p:nvPr/>
        </p:nvSpPr>
        <p:spPr>
          <a:xfrm>
            <a:off x="6172200" y="4709160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690872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押してもキーボードを閉じない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押し始め（pointerdown）で既定の動きを止め、焦点を外さない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64240" cy="685800"/>
          </a:xfrm>
        </p:spPr>
        <p:txBody>
          <a:bodyPr wrap="square" lIns="0" rIns="0" anchor="ctr"/>
          <a:lstStyle/>
          <a:p>
            <a:pPr algn="l"/>
            <a:r>
              <a:rPr sz="3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編集の入り方の比較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651760"/>
                <a:gridCol w="2377440"/>
                <a:gridCol w="301752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案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中身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よい所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困る所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判断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1E2A3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A. 全文の原文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文書全体を 1 つの入力欄で直す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簡単・何でも直せる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見失いやすい・長い文書で重い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B の補い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1E2A3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B. ブロック単位</a:t>
                      </a:r>
                    </a:p>
                  </a:txBody>
                  <a:tcPr anchor="ctr">
                    <a:solidFill>
                      <a:srgbClr val="D5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押したブロックを下の板で直す</a:t>
                      </a:r>
                    </a:p>
                  </a:txBody>
                  <a:tcPr anchor="ctr">
                    <a:solidFill>
                      <a:srgbClr val="D5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読んでいた所のまま・軽い・すぐ見える</a:t>
                      </a:r>
                    </a:p>
                  </a:txBody>
                  <a:tcPr anchor="ctr">
                    <a:solidFill>
                      <a:srgbClr val="D5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ブロックをまたぐ直しは A へ</a:t>
                      </a:r>
                    </a:p>
                  </a:txBody>
                  <a:tcPr anchor="ctr">
                    <a:solidFill>
                      <a:srgbClr val="D5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0F7F8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勧める</a:t>
                      </a:r>
                    </a:p>
                  </a:txBody>
                  <a:tcPr anchor="ctr">
                    <a:solidFill>
                      <a:srgbClr val="D5EC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1E2A3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C. 描いたまま直す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WebView の contenteditable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見た目のまま直せる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日本語の変換と相性が悪い・元の書き方を保てない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採らない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1E2A3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D. PC 版の編集器</a:t>
                      </a:r>
                    </a:p>
                  </a:txBody>
                  <a:tcPr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iced の自前の編集器を持ち込む</a:t>
                      </a:r>
                    </a:p>
                  </a:txBody>
                  <a:tcPr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PC 版と同じ動き</a:t>
                      </a:r>
                    </a:p>
                  </a:txBody>
                  <a:tcPr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Android で変換中の字が来ない</a:t>
                      </a:r>
                    </a:p>
                  </a:txBody>
                  <a:tcPr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ja-JP" altLang="en-US">
                          <a:solidFill>
                            <a:srgbClr val="243042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採らない</a:t>
                      </a:r>
                    </a:p>
                  </a:txBody>
                  <a:tcPr anchor="ctr"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ja-JP" altLang="en-US">
                <a:solidFill>
                  <a:srgbClr val="0F7F82"/>
                </a:solidFill>
                <a:latin typeface="Yu Gothic UI"/>
                <a:ea typeface="Yu Gothic UI"/>
                <a:cs typeface="Yu Gothic UI"/>
              </a:rPr>
              <a:t>ついでにできる最小の編集  </a:t>
            </a:r>
            <a:r>
              <a:rPr sz="14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読む面で作業の印 ☐ を押すと、原文の [ ] と [x] を入れ替える（入力欄を開かない）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64240" cy="685800"/>
          </a:xfrm>
        </p:spPr>
        <p:txBody>
          <a:bodyPr wrap="square" lIns="0" rIns="0" anchor="ctr"/>
          <a:lstStyle/>
          <a:p>
            <a:pPr algn="l"/>
            <a:r>
              <a:rPr sz="3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タブレットの横置き</a:t>
            </a:r>
          </a:p>
        </p:txBody>
      </p:sp>
      <p:sp>
        <p:nvSpPr>
          <p:cNvPr id="3" name="端末の縁 tablet-split"/>
          <p:cNvSpPr/>
          <p:nvPr/>
        </p:nvSpPr>
        <p:spPr>
          <a:xfrm>
            <a:off x="603504" y="1243584"/>
            <a:ext cx="6151681" cy="4325112"/>
          </a:xfrm>
          <a:prstGeom prst="roundRect">
            <a:avLst>
              <a:gd name="adj" fmla="val 3000"/>
            </a:avLst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pic>
        <p:nvPicPr>
          <p:cNvPr id="4" name="画面 tablet-split" descr="tablet-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5987089" cy="4160520"/>
          </a:xfrm>
          <a:prstGeom prst="rect">
            <a:avLst/>
          </a:prstGeom>
        </p:spPr>
      </p:pic>
      <p:sp>
        <p:nvSpPr>
          <p:cNvPr id="5" name="番号 1"/>
          <p:cNvSpPr/>
          <p:nvPr/>
        </p:nvSpPr>
        <p:spPr>
          <a:xfrm>
            <a:off x="7680960" y="1463040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44752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目次を出したまま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左の列にいつも出す。いまの見出しに色</a:t>
            </a:r>
          </a:p>
        </p:txBody>
      </p:sp>
      <p:sp>
        <p:nvSpPr>
          <p:cNvPr id="7" name="番号 2"/>
          <p:cNvSpPr/>
          <p:nvPr/>
        </p:nvSpPr>
        <p:spPr>
          <a:xfrm>
            <a:off x="7680960" y="2442718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42443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並べて直す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原文とプレビューを並べ、原文を直すとプレビューが追う</a:t>
            </a:r>
          </a:p>
        </p:txBody>
      </p:sp>
      <p:sp>
        <p:nvSpPr>
          <p:cNvPr id="9" name="番号 3"/>
          <p:cNvSpPr/>
          <p:nvPr/>
        </p:nvSpPr>
        <p:spPr>
          <a:xfrm>
            <a:off x="7680960" y="3628771"/>
            <a:ext cx="384048" cy="384048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610483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外付けキーボード</a:t>
            </a:r>
          </a:p>
          <a:p>
            <a:pPr algn="l">
              <a:spcAft>
                <a:spcPts val="3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PC 版と同じ打鍵。下の帯と道具の帯は出さない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7607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lang="ja-JP" altLang="en-US">
                <a:solidFill>
                  <a:srgbClr val="5F6B7A"/>
                </a:solidFill>
                <a:latin typeface="Yu Gothic UI"/>
                <a:ea typeface="Yu Gothic UI"/>
                <a:cs typeface="Yu Gothic UI"/>
              </a:rPr>
              <a:t>1180 × 820（横置き）・並べて直す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64240" cy="685800"/>
          </a:xfrm>
        </p:spPr>
        <p:txBody>
          <a:bodyPr wrap="square" lIns="0" rIns="0" anchor="ctr"/>
          <a:lstStyle/>
          <a:p>
            <a:pPr algn="l"/>
            <a:r>
              <a:rPr sz="30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作りの決まり（本番へ持ち込む）</a:t>
            </a:r>
          </a:p>
        </p:txBody>
      </p:sp>
      <p:sp>
        <p:nvSpPr>
          <p:cNvPr id="3" name="印 1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325880"/>
            <a:ext cx="6126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日本語の変換を壊さない</a:t>
            </a:r>
          </a:p>
          <a:p>
            <a:pPr algn="l">
              <a:spcAft>
                <a:spcPts val="400"/>
              </a:spcAft>
            </a:pPr>
            <a:r>
              <a:rPr sz="14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入力欄へ値を書き戻さない。compositionstart〜end の間は描き直さず、確定で 1 回だけ反映する。Enter で決める所は変換の確定と取り違えない</a:t>
            </a:r>
          </a:p>
        </p:txBody>
      </p:sp>
      <p:sp>
        <p:nvSpPr>
          <p:cNvPr id="5" name="注意 1"/>
          <p:cNvSpPr/>
          <p:nvPr/>
        </p:nvSpPr>
        <p:spPr>
          <a:xfrm>
            <a:off x="8001000" y="13716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いまの Dioxus の試作は、打つたびに書き戻している（直す）</a:t>
            </a:r>
          </a:p>
        </p:txBody>
      </p:sp>
      <p:sp>
        <p:nvSpPr>
          <p:cNvPr id="7" name="印 2"/>
          <p:cNvSpPr/>
          <p:nvPr/>
        </p:nvSpPr>
        <p:spPr>
          <a:xfrm>
            <a:off x="548640" y="3063240"/>
            <a:ext cx="777240" cy="777240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971800"/>
            <a:ext cx="6126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キーボードの上に板と帯を置く</a:t>
            </a:r>
          </a:p>
          <a:p>
            <a:pPr algn="l">
              <a:spcAft>
                <a:spcPts val="400"/>
              </a:spcAft>
            </a:pPr>
            <a:r>
              <a:rPr sz="14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viewport に interactive-widget=resizes-content。iOS は CSS で高さを取れないので visualViewport で受ける。切り欠きは safe-area で避ける</a:t>
            </a:r>
          </a:p>
        </p:txBody>
      </p:sp>
      <p:sp>
        <p:nvSpPr>
          <p:cNvPr id="9" name="注意 2"/>
          <p:cNvSpPr/>
          <p:nvPr/>
        </p:nvSpPr>
        <p:spPr>
          <a:xfrm>
            <a:off x="8001000" y="301752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017520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Android 15（端まで描く）は WebView に余白を渡す作りを殻で確かめる</a:t>
            </a:r>
          </a:p>
        </p:txBody>
      </p:sp>
      <p:sp>
        <p:nvSpPr>
          <p:cNvPr id="11" name="印 3"/>
          <p:cNvSpPr/>
          <p:nvPr/>
        </p:nvSpPr>
        <p:spPr>
          <a:xfrm>
            <a:off x="548640" y="4709159"/>
            <a:ext cx="777240" cy="777240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617720"/>
            <a:ext cx="6126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lang="ja-JP" altLang="en-US">
                <a:solidFill>
                  <a:srgbClr val="1E2A3A"/>
                </a:solidFill>
                <a:latin typeface="Yu Gothic UI"/>
                <a:ea typeface="Yu Gothic UI"/>
                <a:cs typeface="Yu Gothic UI"/>
              </a:rPr>
              <a:t>直したブロックだけ描き直す</a:t>
            </a:r>
          </a:p>
          <a:p>
            <a:pPr algn="l">
              <a:spcAft>
                <a:spcPts val="400"/>
              </a:spcAft>
            </a:pPr>
            <a:r>
              <a:rPr sz="14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土台のブロックの範囲で原文を差し替え、そのブロックの HTML だけ作り直す。取り消しは文書の履歴に積む</a:t>
            </a:r>
          </a:p>
        </p:txBody>
      </p:sp>
      <p:sp>
        <p:nvSpPr>
          <p:cNvPr id="13" name="注意 3"/>
          <p:cNvSpPr/>
          <p:nvPr/>
        </p:nvSpPr>
        <p:spPr>
          <a:xfrm>
            <a:off x="8001000" y="466344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663440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lang="ja-JP" altLang="en-US">
                <a:solidFill>
                  <a:srgbClr val="243042"/>
                </a:solidFill>
                <a:latin typeface="Yu Gothic UI"/>
                <a:ea typeface="Yu Gothic UI"/>
                <a:cs typeface="Yu Gothic UI"/>
              </a:rPr>
              <a:t>全文の HTML の書き出しは、300 KB で約 1 秒かかった（計測済み）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実機で確かめて、要件へ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lang="ja-JP" altLang="en-US">
                <a:solidFill>
                  <a:srgbClr val="D5ECEC"/>
                </a:solidFill>
                <a:latin typeface="Yu Gothic UI"/>
                <a:ea typeface="Yu Gothic UI"/>
                <a:cs typeface="Yu Gothic UI"/>
              </a:rPr>
              <a:t>実機でしか分からないこと</a:t>
            </a:r>
          </a:p>
        </p:txBody>
      </p:sp>
      <p:sp>
        <p:nvSpPr>
          <p:cNvPr id="4" name="番号 1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99339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lang="ja-JP" altLang="en-US">
                <a:solidFill>
                  <a:srgbClr val="E4EBF1"/>
                </a:solidFill>
                <a:latin typeface="Yu Gothic UI"/>
                <a:ea typeface="Yu Gothic UI"/>
                <a:cs typeface="Yu Gothic UI"/>
              </a:rPr>
              <a:t>日本語の変換（Gboard・iOS）で入力が壊れないか</a:t>
            </a:r>
          </a:p>
        </p:txBody>
      </p:sp>
      <p:sp>
        <p:nvSpPr>
          <p:cNvPr id="6" name="番号 2"/>
          <p:cNvSpPr/>
          <p:nvPr/>
        </p:nvSpPr>
        <p:spPr>
          <a:xfrm>
            <a:off x="731520" y="2724912"/>
            <a:ext cx="365760" cy="365760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06624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lang="ja-JP" altLang="en-US">
                <a:solidFill>
                  <a:srgbClr val="E4EBF1"/>
                </a:solidFill>
                <a:latin typeface="Yu Gothic UI"/>
                <a:ea typeface="Yu Gothic UI"/>
                <a:cs typeface="Yu Gothic UI"/>
              </a:rPr>
              <a:t>キーボードの出し入れに、板と道具の帯が付いてくるか</a:t>
            </a:r>
          </a:p>
        </p:txBody>
      </p:sp>
      <p:sp>
        <p:nvSpPr>
          <p:cNvPr id="8" name="番号 3"/>
          <p:cNvSpPr/>
          <p:nvPr/>
        </p:nvSpPr>
        <p:spPr>
          <a:xfrm>
            <a:off x="731520" y="3438144"/>
            <a:ext cx="365760" cy="365760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419856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lang="ja-JP" altLang="en-US">
                <a:solidFill>
                  <a:srgbClr val="E4EBF1"/>
                </a:solidFill>
                <a:latin typeface="Yu Gothic UI"/>
                <a:ea typeface="Yu Gothic UI"/>
                <a:cs typeface="Yu Gothic UI"/>
              </a:rPr>
              <a:t>長押しが OS の文字の選択と取り合わないか（取り合うなら 2 回続けて押す）</a:t>
            </a:r>
          </a:p>
        </p:txBody>
      </p:sp>
      <p:sp>
        <p:nvSpPr>
          <p:cNvPr id="10" name="番号 4"/>
          <p:cNvSpPr/>
          <p:nvPr/>
        </p:nvSpPr>
        <p:spPr>
          <a:xfrm>
            <a:off x="731520" y="4151376"/>
            <a:ext cx="365760" cy="365760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133088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lang="ja-JP" altLang="en-US">
                <a:solidFill>
                  <a:srgbClr val="E4EBF1"/>
                </a:solidFill>
                <a:latin typeface="Yu Gothic UI"/>
                <a:ea typeface="Yu Gothic UI"/>
                <a:cs typeface="Yu Gothic UI"/>
              </a:rPr>
              <a:t>片手で下の帯・板・道具の帯に届くか</a:t>
            </a:r>
          </a:p>
        </p:txBody>
      </p:sp>
      <p:sp>
        <p:nvSpPr>
          <p:cNvPr id="12" name="番号 5"/>
          <p:cNvSpPr/>
          <p:nvPr/>
        </p:nvSpPr>
        <p:spPr>
          <a:xfrm>
            <a:off x="731520" y="4864608"/>
            <a:ext cx="365760" cy="365760"/>
          </a:xfrm>
          <a:prstGeom prst="ellipse">
            <a:avLst/>
          </a:prstGeom>
          <a:solidFill>
            <a:srgbClr val="0F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8463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lang="ja-JP" altLang="en-US">
                <a:solidFill>
                  <a:srgbClr val="E4EBF1"/>
                </a:solidFill>
                <a:latin typeface="Yu Gothic UI"/>
                <a:ea typeface="Yu Gothic UI"/>
                <a:cs typeface="Yu Gothic UI"/>
              </a:rPr>
              <a:t>タブレットの横置き・縦置きと外付けキーボード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lang="ja-JP" altLang="en-US">
                <a:solidFill>
                  <a:srgbClr val="D5ECEC"/>
                </a:solidFill>
                <a:latin typeface="Yu Gothic UI"/>
                <a:ea typeface="Yu Gothic UI"/>
                <a:cs typeface="Yu Gothic UI"/>
              </a:rPr>
              <a:t>段取り</a:t>
            </a:r>
          </a:p>
        </p:txBody>
      </p:sp>
      <p:sp>
        <p:nvSpPr>
          <p:cNvPr id="15" name="段取り 1"/>
          <p:cNvSpPr/>
          <p:nvPr/>
        </p:nvSpPr>
        <p:spPr>
          <a:xfrm>
            <a:off x="6492240" y="201168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2A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6" name="番号 1"/>
          <p:cNvSpPr/>
          <p:nvPr/>
        </p:nvSpPr>
        <p:spPr>
          <a:xfrm>
            <a:off x="6675120" y="2359152"/>
            <a:ext cx="411480" cy="411480"/>
          </a:xfrm>
          <a:prstGeom prst="ellipse">
            <a:avLst/>
          </a:prstGeom>
          <a:solidFill>
            <a:srgbClr val="D9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157984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端末で試作を開く</a:t>
            </a:r>
          </a:p>
          <a:p>
            <a:pPr algn="l">
              <a:spcAft>
                <a:spcPts val="200"/>
              </a:spcAft>
            </a:pPr>
            <a:r>
              <a:rPr sz="1300" b="0" lang="ja-JP" altLang="en-US">
                <a:solidFill>
                  <a:srgbClr val="C9D4DE"/>
                </a:solidFill>
                <a:latin typeface="Yu Gothic UI"/>
                <a:ea typeface="Yu Gothic UI"/>
                <a:cs typeface="Yu Gothic UI"/>
              </a:rPr>
              <a:t>GitHub Pages を使うか、ファイルを端末へ送る（公開の範囲は利用者が判断）</a:t>
            </a:r>
          </a:p>
        </p:txBody>
      </p:sp>
      <p:sp>
        <p:nvSpPr>
          <p:cNvPr id="18" name="段取り 2"/>
          <p:cNvSpPr/>
          <p:nvPr/>
        </p:nvSpPr>
        <p:spPr>
          <a:xfrm>
            <a:off x="6492240" y="329184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2A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19" name="番号 2"/>
          <p:cNvSpPr/>
          <p:nvPr/>
        </p:nvSpPr>
        <p:spPr>
          <a:xfrm>
            <a:off x="6675120" y="3639312"/>
            <a:ext cx="411480" cy="411480"/>
          </a:xfrm>
          <a:prstGeom prst="ellipse">
            <a:avLst/>
          </a:prstGeom>
          <a:solidFill>
            <a:srgbClr val="D9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438144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Dioxus の試作へ取り込む</a:t>
            </a:r>
          </a:p>
          <a:p>
            <a:pPr algn="l">
              <a:spcAft>
                <a:spcPts val="200"/>
              </a:spcAft>
            </a:pPr>
            <a:r>
              <a:rPr sz="1300" b="0" lang="ja-JP" altLang="en-US">
                <a:solidFill>
                  <a:srgbClr val="C9D4DE"/>
                </a:solidFill>
                <a:latin typeface="Yu Gothic UI"/>
                <a:ea typeface="Yu Gothic UI"/>
                <a:cs typeface="Yu Gothic UI"/>
              </a:rPr>
              <a:t>入力欄の書き戻しを最初に直し、CI の APK で確かめる</a:t>
            </a:r>
          </a:p>
        </p:txBody>
      </p:sp>
      <p:sp>
        <p:nvSpPr>
          <p:cNvPr id="21" name="段取り 3"/>
          <p:cNvSpPr/>
          <p:nvPr/>
        </p:nvSpPr>
        <p:spPr>
          <a:xfrm>
            <a:off x="6492240" y="45720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2A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</a:p>
        </p:txBody>
      </p:sp>
      <p:sp>
        <p:nvSpPr>
          <p:cNvPr id="22" name="番号 3"/>
          <p:cNvSpPr/>
          <p:nvPr/>
        </p:nvSpPr>
        <p:spPr>
          <a:xfrm>
            <a:off x="6675120" y="4919472"/>
            <a:ext cx="411480" cy="411480"/>
          </a:xfrm>
          <a:prstGeom prst="ellipse">
            <a:avLst/>
          </a:prstGeom>
          <a:solidFill>
            <a:srgbClr val="D9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18304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lang="ja-JP" altLang="en-US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v3 の要件で決める</a:t>
            </a:r>
          </a:p>
          <a:p>
            <a:pPr algn="l">
              <a:spcAft>
                <a:spcPts val="200"/>
              </a:spcAft>
            </a:pPr>
            <a:r>
              <a:rPr sz="1300" b="0" lang="ja-JP" altLang="en-US">
                <a:solidFill>
                  <a:srgbClr val="C9D4DE"/>
                </a:solidFill>
                <a:latin typeface="Yu Gothic UI"/>
                <a:ea typeface="Yu Gothic UI"/>
                <a:cs typeface="Yu Gothic UI"/>
              </a:rPr>
              <a:t>直せる範囲（ブロック・作業の印・全文）と大きさの上限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mdview v3 モバイル 画面設計案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